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/zU+hUYP2qoLN66W+pKAVZmyV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customschemas.google.com/relationships/presentationmetadata" Target="metadata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400" y="763588"/>
            <a:ext cx="6702425" cy="377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19" name="Google Shape;219;p2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/>
          <p:nvPr>
            <p:ph idx="2" type="sldImg"/>
          </p:nvPr>
        </p:nvSpPr>
        <p:spPr>
          <a:xfrm>
            <a:off x="533400" y="763588"/>
            <a:ext cx="6702425" cy="377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4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36" name="Google Shape;236;p4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5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533400" y="763588"/>
            <a:ext cx="6702425" cy="377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533400" y="763588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2" type="body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58" name="Google Shape;58;p3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3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" type="body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" type="body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36"/>
          <p:cNvSpPr txBox="1"/>
          <p:nvPr>
            <p:ph idx="2" type="body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3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3" name="Google Shape;103;p3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3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5" name="Google Shape;105;p3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6" name="Google Shape;106;p3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8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3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3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17" name="Google Shape;117;p4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4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9" name="Google Shape;119;p4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4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4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4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2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2"/>
          <p:cNvSpPr txBox="1"/>
          <p:nvPr>
            <p:ph idx="1" type="body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3"/>
          <p:cNvSpPr txBox="1"/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1" type="body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4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/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4"/>
          <p:cNvSpPr txBox="1"/>
          <p:nvPr>
            <p:ph idx="10" type="dt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9" name="Google Shape;139;p44"/>
          <p:cNvSpPr txBox="1"/>
          <p:nvPr>
            <p:ph idx="12" type="sldNum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5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7" name="Google Shape;157;p4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4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2" name="Google Shape;162;p46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3" name="Google Shape;163;p46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7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7"/>
          <p:cNvSpPr txBox="1"/>
          <p:nvPr>
            <p:ph idx="1" type="body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47"/>
          <p:cNvSpPr txBox="1"/>
          <p:nvPr>
            <p:ph idx="2" type="body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8" name="Google Shape;168;p4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4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4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74" name="Google Shape;174;p4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4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76" name="Google Shape;176;p4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7" name="Google Shape;177;p4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9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1" name="Google Shape;181;p4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85" name="Google Shape;185;p5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6" name="Google Shape;186;p5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5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5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5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5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5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2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2"/>
          <p:cNvSpPr txBox="1"/>
          <p:nvPr>
            <p:ph idx="1" type="body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5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3"/>
          <p:cNvSpPr txBox="1"/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3"/>
          <p:cNvSpPr txBox="1"/>
          <p:nvPr>
            <p:ph idx="1" type="body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3" name="Google Shape;203;p5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7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marR="0" rtl="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marR="0" rtl="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docs.google.com/spreadsheets/d/1GpSwx7r5Y9Kno-Kzg_iwrA5H1uuIfBSde9MUuxqyiEc/edit?gid=1554885272#gid=1554885272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"/>
          <p:cNvSpPr txBox="1"/>
          <p:nvPr>
            <p:ph idx="4294967295" type="subTitle"/>
          </p:nvPr>
        </p:nvSpPr>
        <p:spPr>
          <a:xfrm>
            <a:off x="523836" y="3605131"/>
            <a:ext cx="11668200" cy="27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 GUIDED BY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OVIYA  P              	(2403811724322072) 							       </a:t>
            </a:r>
            <a:r>
              <a:rPr b="1"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R. ROSHAN JOSHUA,M.E.,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(Ph.D).,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RISHI  P S            	(2403811724321092)										</a:t>
            </a:r>
            <a:endParaRPr b="1" sz="1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SATHISHKUMAR P	(2403811724321102)</a:t>
            </a:r>
            <a:endParaRPr b="1" sz="1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SHARMILA N       	(2403811724322107)</a:t>
            </a:r>
            <a:endParaRPr b="1" sz="1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sz="1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"/>
          <p:cNvSpPr/>
          <p:nvPr/>
        </p:nvSpPr>
        <p:spPr>
          <a:xfrm>
            <a:off x="1902364" y="570966"/>
            <a:ext cx="84375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b="1" i="0" lang="en-US" sz="20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000" u="none" cap="none" strike="noStrik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Multi-Format Cyber Deception Detection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"/>
          <p:cNvSpPr txBox="1"/>
          <p:nvPr/>
        </p:nvSpPr>
        <p:spPr>
          <a:xfrm>
            <a:off x="8484475" y="4420917"/>
            <a:ext cx="3543300" cy="52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/ AI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2490075" y="2787150"/>
            <a:ext cx="726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BATCH - 7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b="1" sz="3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"/>
          <p:cNvSpPr txBox="1"/>
          <p:nvPr/>
        </p:nvSpPr>
        <p:spPr>
          <a:xfrm>
            <a:off x="4151536" y="1417638"/>
            <a:ext cx="9515304" cy="391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</a:t>
            </a:r>
            <a:endParaRPr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</a:t>
            </a:r>
            <a:endParaRPr/>
          </a:p>
          <a:p>
            <a:pPr indent="-239395" lvl="0" marL="342900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/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"/>
          <p:cNvSpPr txBox="1"/>
          <p:nvPr/>
        </p:nvSpPr>
        <p:spPr>
          <a:xfrm>
            <a:off x="831850" y="1612700"/>
            <a:ext cx="10658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Phishing attacks increasingly use </a:t>
            </a:r>
            <a:r>
              <a:rPr b="1" lang="en-US" sz="2400"/>
              <a:t>URLs, PDF/DOCX documents, and QR codes</a:t>
            </a:r>
            <a:r>
              <a:rPr lang="en-US" sz="2400"/>
              <a:t>, making traditional URL-only detection systems ineffective.</a:t>
            </a:r>
            <a:endParaRPr sz="2400"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Traditional blacklist and rule-based systems often </a:t>
            </a:r>
            <a:r>
              <a:rPr b="1" lang="en-US" sz="2400"/>
              <a:t>fail to detect zero-hour and obfuscated phishing attacks</a:t>
            </a:r>
            <a:r>
              <a:rPr lang="en-US" sz="2400"/>
              <a:t>.</a:t>
            </a:r>
            <a:endParaRPr sz="2400"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Lack of multi-format, real-time, and explainable detection can lead to credential theft, financial loss, and poor security decision-making.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 txBox="1"/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/>
          <p:cNvSpPr txBox="1"/>
          <p:nvPr/>
        </p:nvSpPr>
        <p:spPr>
          <a:xfrm>
            <a:off x="1095041" y="1986317"/>
            <a:ext cx="98877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To develop a </a:t>
            </a:r>
            <a:r>
              <a:rPr b="1" lang="en-US" sz="2400">
                <a:solidFill>
                  <a:schemeClr val="dk1"/>
                </a:solidFill>
              </a:rPr>
              <a:t>unified phishing-detection system</a:t>
            </a:r>
            <a:r>
              <a:rPr lang="en-US" sz="2400">
                <a:solidFill>
                  <a:schemeClr val="dk1"/>
                </a:solidFill>
              </a:rPr>
              <a:t> that analyzes URLs, PDF/DOCX documents, and QR codes using semantic similarity and heuristic-based detection techniques.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To improve phishing detection by providing </a:t>
            </a:r>
            <a:r>
              <a:rPr b="1" lang="en-US" sz="2400">
                <a:solidFill>
                  <a:schemeClr val="dk1"/>
                </a:solidFill>
              </a:rPr>
              <a:t>real-time, lightweight, and explainable threat analysis</a:t>
            </a:r>
            <a:r>
              <a:rPr lang="en-US" sz="2400">
                <a:solidFill>
                  <a:schemeClr val="dk1"/>
                </a:solidFill>
              </a:rPr>
              <a:t> that identifies Safe, Suspicious, and Phishing inputs while supporting effective security decision-making.</a:t>
            </a:r>
            <a:endParaRPr sz="2400">
              <a:solidFill>
                <a:schemeClr val="dk1"/>
              </a:solidFill>
            </a:endParaRPr>
          </a:p>
          <a:p>
            <a:pPr indent="-190500" lvl="0" marL="8001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"/>
          <p:cNvSpPr txBox="1"/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 txBox="1"/>
          <p:nvPr/>
        </p:nvSpPr>
        <p:spPr>
          <a:xfrm>
            <a:off x="2480175" y="3176525"/>
            <a:ext cx="723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 papers</a:t>
            </a:r>
            <a:endParaRPr sz="27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 txBox="1"/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6"/>
          <p:cNvSpPr txBox="1"/>
          <p:nvPr/>
        </p:nvSpPr>
        <p:spPr>
          <a:xfrm>
            <a:off x="1204037" y="1638998"/>
            <a:ext cx="10139700" cy="4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b="1" lang="en-US" sz="2400">
                <a:solidFill>
                  <a:schemeClr val="dk1"/>
                </a:solidFill>
              </a:rPr>
              <a:t>URL-only detection</a:t>
            </a:r>
            <a:r>
              <a:rPr lang="en-US" sz="2400">
                <a:solidFill>
                  <a:schemeClr val="dk1"/>
                </a:solidFill>
              </a:rPr>
              <a:t> — Cannot analyze phishing links hidden inside PDFs, DOCX files, or QR codes.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b="1" lang="en-US" sz="2400">
                <a:solidFill>
                  <a:schemeClr val="dk1"/>
                </a:solidFill>
              </a:rPr>
              <a:t>Blacklist-dependent detection</a:t>
            </a:r>
            <a:r>
              <a:rPr lang="en-US" sz="2400">
                <a:solidFill>
                  <a:schemeClr val="dk1"/>
                </a:solidFill>
              </a:rPr>
              <a:t> — Struggles to identify </a:t>
            </a:r>
            <a:r>
              <a:rPr b="1" lang="en-US" sz="2400">
                <a:solidFill>
                  <a:schemeClr val="dk1"/>
                </a:solidFill>
              </a:rPr>
              <a:t>zero-hour and previously unseen phishing URLs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b="1" lang="en-US" sz="2400">
                <a:solidFill>
                  <a:schemeClr val="dk1"/>
                </a:solidFill>
              </a:rPr>
              <a:t>Limited analysis</a:t>
            </a:r>
            <a:r>
              <a:rPr lang="en-US" sz="2400">
                <a:solidFill>
                  <a:schemeClr val="dk1"/>
                </a:solidFill>
              </a:rPr>
              <a:t> — Does not combine </a:t>
            </a:r>
            <a:r>
              <a:rPr b="1" lang="en-US" sz="2400">
                <a:solidFill>
                  <a:schemeClr val="dk1"/>
                </a:solidFill>
              </a:rPr>
              <a:t>semantic similarity with multiple security heuristics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b="1" lang="en-US" sz="2400">
                <a:solidFill>
                  <a:schemeClr val="dk1"/>
                </a:solidFill>
              </a:rPr>
              <a:t>Poor explainability</a:t>
            </a:r>
            <a:r>
              <a:rPr lang="en-US" sz="2400">
                <a:solidFill>
                  <a:schemeClr val="dk1"/>
                </a:solidFill>
              </a:rPr>
              <a:t> — Provides limited insight into </a:t>
            </a:r>
            <a:r>
              <a:rPr b="1" lang="en-US" sz="2400">
                <a:solidFill>
                  <a:schemeClr val="dk1"/>
                </a:solidFill>
              </a:rPr>
              <a:t>why a URL is classified as malicious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b="1" lang="en-US" sz="2400">
                <a:solidFill>
                  <a:schemeClr val="dk1"/>
                </a:solidFill>
              </a:rPr>
              <a:t>Limited deployment</a:t>
            </a:r>
            <a:r>
              <a:rPr lang="en-US" sz="2400">
                <a:solidFill>
                  <a:schemeClr val="dk1"/>
                </a:solidFill>
              </a:rPr>
              <a:t> — Many advanced models are </a:t>
            </a:r>
            <a:r>
              <a:rPr b="1" lang="en-US" sz="2400">
                <a:solidFill>
                  <a:schemeClr val="dk1"/>
                </a:solidFill>
              </a:rPr>
              <a:t>computationally heavy and GPU-dependent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 </a:t>
            </a:r>
            <a:endParaRPr b="1" i="0" sz="3200" u="none" cap="none" strike="noStrik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9238" y="1362075"/>
            <a:ext cx="91535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 txBox="1"/>
          <p:nvPr/>
        </p:nvSpPr>
        <p:spPr>
          <a:xfrm>
            <a:off x="831847" y="1499975"/>
            <a:ext cx="10658400" cy="4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Multi-format phishing detection</a:t>
            </a:r>
            <a:r>
              <a:rPr lang="en-US" sz="2400">
                <a:solidFill>
                  <a:schemeClr val="dk1"/>
                </a:solidFill>
              </a:rPr>
              <a:t> for URLs, PDF, DOCX, and QR-code inputs.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Extracts embedded links</a:t>
            </a:r>
            <a:r>
              <a:rPr lang="en-US" sz="2400">
                <a:solidFill>
                  <a:schemeClr val="dk1"/>
                </a:solidFill>
              </a:rPr>
              <a:t> and converts them into a common format for analysis.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Combines semantic similarity and heuristic analysis</a:t>
            </a:r>
            <a:r>
              <a:rPr lang="en-US" sz="2400">
                <a:solidFill>
                  <a:schemeClr val="dk1"/>
                </a:solidFill>
              </a:rPr>
              <a:t> to detect known and zero-hour phishing threats.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Provides explainable classification</a:t>
            </a:r>
            <a:r>
              <a:rPr lang="en-US" sz="2400">
                <a:solidFill>
                  <a:schemeClr val="dk1"/>
                </a:solidFill>
              </a:rPr>
              <a:t> as Safe, Suspicious, or Phishing with the specific triggered signals.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Lightweight and CPU-based</a:t>
            </a:r>
            <a:r>
              <a:rPr lang="en-US" sz="2400">
                <a:solidFill>
                  <a:schemeClr val="dk1"/>
                </a:solidFill>
              </a:rPr>
              <a:t>, enabling real-time detection without GPU dependency.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3108658" y="2184156"/>
            <a:ext cx="7503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Input Acceptance &amp; Routing Module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Format-Specific Link Extraction Module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Hybrid Detection &amp; Analysis Module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Explainable Report &amp; Dashboard Module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 txBox="1"/>
          <p:nvPr/>
        </p:nvSpPr>
        <p:spPr>
          <a:xfrm>
            <a:off x="1898650" y="1837675"/>
            <a:ext cx="9116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Input Acceptance &amp; Routing Module: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Accepts URLs, PDF files, DOCX documents, QR-code images, and HTML text.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Identifies the input format and routes it to the appropriate processing module.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Converts different input types into a common URL representation for analysis.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 txBox="1"/>
          <p:nvPr/>
        </p:nvSpPr>
        <p:spPr>
          <a:xfrm>
            <a:off x="1898650" y="1853950"/>
            <a:ext cx="8627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2400"/>
              <a:t>Format-Specific Link Extraction Module: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Extracts embedded links from PDF, DOCX, and QR-code inputs.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Uses PyMuPDF, python-docx, and pyzbar for format-specific extraction.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Normalizes all extracted URLs before sending them to the detection engine.</a:t>
            </a:r>
            <a:endParaRPr sz="2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 txBox="1"/>
          <p:nvPr/>
        </p:nvSpPr>
        <p:spPr>
          <a:xfrm>
            <a:off x="1898650" y="1951700"/>
            <a:ext cx="8611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2400"/>
              <a:t>Hybrid Detection &amp; Analysis Module: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lang="en-US" sz="2400"/>
              <a:t>Performs semantic similarity analysis using a lightweight transformer model.</a:t>
            </a:r>
            <a:endParaRPr sz="2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• Checks domain age, IP usage, redirections, blacklist status, and suspicious HTML.</a:t>
            </a:r>
            <a:endParaRPr sz="2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• Combines both analysis scores to classify inputs as Safe, Suspicious, or Phishing. </a:t>
            </a:r>
            <a:endParaRPr sz="2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1" sz="320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 txBox="1"/>
          <p:nvPr/>
        </p:nvSpPr>
        <p:spPr>
          <a:xfrm>
            <a:off x="1898651" y="2009225"/>
            <a:ext cx="8598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lang="en-US" sz="2400"/>
              <a:t>Explainable Report &amp; Dashboard Module: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Displays the final threat classification and risk score.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Shows which specific security checks triggered the detection.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Provides a simple, explainable Gradio interface for analysts and users.</a:t>
            </a:r>
            <a:endParaRPr sz="2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 txBox="1"/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 txBox="1"/>
          <p:nvPr/>
        </p:nvSpPr>
        <p:spPr>
          <a:xfrm>
            <a:off x="1320748" y="1775775"/>
            <a:ext cx="95505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The proposed multi-format phishing detection system provides a unified approach for detecting threats across URLs, PDF, DOCX, and QR-code inputs.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Semantic and heuristic analysis improves detection of both known and previously unseen phishing attacks.</a:t>
            </a:r>
            <a:endParaRPr sz="2400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Explainable, lightweight detection enables faster security analysis and supports informed decision-making without GPU dependency.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b="1" lang="en-US" sz="320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337" name="Google Shape;337;p15"/>
          <p:cNvSpPr txBox="1"/>
          <p:nvPr>
            <p:ph idx="1" type="body"/>
          </p:nvPr>
        </p:nvSpPr>
        <p:spPr>
          <a:xfrm>
            <a:off x="978726" y="1831987"/>
            <a:ext cx="109713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Integration with advanced threat intelligence for improved phishing detection.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Support for additional file formats such as HTML, XLSX, and PPTX.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NLP-based analysis of document and QR-code content for deeper threat detection.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Microservice API integration to connect the detection engine with other security tools.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stenila P</dc:creator>
</cp:coreProperties>
</file>